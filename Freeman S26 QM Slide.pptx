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</p:sldIdLst>
  <p:sldSz cy="5143500" cx="9144000"/>
  <p:notesSz cx="6858000" cy="9144000"/>
  <p:embeddedFontLst>
    <p:embeddedFont>
      <p:font typeface="Helvetica Neue"/>
      <p:regular r:id="rId7"/>
      <p:bold r:id="rId8"/>
      <p:italic r:id="rId9"/>
      <p:boldItalic r:id="rId1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10" Type="http://schemas.openxmlformats.org/officeDocument/2006/relationships/font" Target="fonts/HelveticaNeue-boldItalic.fntdata"/><Relationship Id="rId9" Type="http://schemas.openxmlformats.org/officeDocument/2006/relationships/font" Target="fonts/HelveticaNeue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font" Target="fonts/HelveticaNeue-regular.fntdata"/><Relationship Id="rId8" Type="http://schemas.openxmlformats.org/officeDocument/2006/relationships/font" Target="fonts/HelveticaNeue-bold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/>
        </p:nvSpPr>
        <p:spPr>
          <a:xfrm>
            <a:off x="686400" y="3492841"/>
            <a:ext cx="7771200" cy="147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Helvetica Neue"/>
              <a:buChar char="●"/>
            </a:pPr>
            <a:r>
              <a:rPr lang="en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TSLA surged 1,300% during the low-rate era (2020–2021) and collapsed 70%+ as rates rose in 2022</a:t>
            </a:r>
            <a:endParaRPr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Helvetica Neue"/>
              <a:buChar char="●"/>
            </a:pPr>
            <a:r>
              <a:rPr lang="en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Granger Causality Test confirms Treasury yield changes statistically predict TSLA returns at 95% confidence (p &lt; 0.05 at lags 1, 2, 3 &amp; 5)</a:t>
            </a:r>
            <a:endParaRPr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Helvetica Neue"/>
              <a:buChar char="●"/>
            </a:pPr>
            <a:r>
              <a:rPr lang="en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VAR model forecasts modest positive TSLA returns as rate environment stabilizes into 2025</a:t>
            </a:r>
            <a:endParaRPr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5" name="Google Shape;55;p13"/>
          <p:cNvSpPr txBox="1"/>
          <p:nvPr/>
        </p:nvSpPr>
        <p:spPr>
          <a:xfrm>
            <a:off x="1727400" y="109795"/>
            <a:ext cx="5689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Does the Fed Move Tesla?</a:t>
            </a:r>
            <a:endParaRPr sz="1800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6" name="Google Shape;56;p13"/>
          <p:cNvSpPr txBox="1"/>
          <p:nvPr/>
        </p:nvSpPr>
        <p:spPr>
          <a:xfrm>
            <a:off x="787650" y="455356"/>
            <a:ext cx="75687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 Time-Series Analysis of Treasury Yields and TSLA Stock Returns </a:t>
            </a:r>
            <a:endParaRPr sz="1500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57" name="Google Shape;57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73575" y="776203"/>
            <a:ext cx="6596850" cy="2801550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13"/>
          <p:cNvSpPr txBox="1"/>
          <p:nvPr/>
        </p:nvSpPr>
        <p:spPr>
          <a:xfrm>
            <a:off x="7659525" y="4886350"/>
            <a:ext cx="20910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2"/>
                </a:solidFill>
              </a:rPr>
              <a:t>Andrew Freeman QM S26</a:t>
            </a:r>
            <a:endParaRPr sz="9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